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4114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00A87E"/>
                </a:solidFill>
              </a:rPr>
              <a:t>ENTREGA OFICIAL · FASE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Transparência Social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 pronto. Está funcionando.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00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está alinhado com o que foi pedido.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3200400" cy="36576"/>
          </a:xfrm>
          <a:prstGeom prst="rect">
            <a:avLst/>
          </a:prstGeom>
          <a:solidFill>
            <a:srgbClr val="8AA3BF"/>
          </a:solidFill>
          <a:ln w="12700">
            <a:solidFill>
              <a:srgbClr val="8AA3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520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3BF"/>
                </a:solidFill>
              </a:rPr>
              <a:t>Entrega: Abril 2026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A3BF"/>
                </a:solidFill>
              </a:rPr>
              <a:t>Yamaji Studio  ×  BM Consultoria e Assessoria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358"/>
                </a:solidFill>
              </a:rPr>
              <a:t>Documento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OBJETIVO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este projeto entrega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</a:rPr>
              <a:t>Propósito da Fase 1 — MVP Funcional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749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3749040" cy="731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19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PROBLEMA A RESOLVER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6080"/>
                </a:solidFill>
              </a:rPr>
              <a:t>Organizações sociais, investidores e consultores trabalham com relatórios e prestação de contas em sistemas fragmentados — ou em planilhas.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6080"/>
                </a:solidFill>
              </a:rPr>
              <a:t>Sem rastreabilidade. Sem histórico. Sem fluxo estruturado de aprovação.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023360" cy="2926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7E"/>
                </a:solidFill>
              </a:rPr>
              <a:t>SOLUÇÃO ENTREGUE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A87E"/>
                </a:solidFill>
              </a:rPr>
              <a:t>1.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Plataforma web com 3 perfis operacionais
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A87E"/>
                </a:solidFill>
              </a:rPr>
              <a:t>2.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Gestão de projetos com dados, metas e cronograma
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A87E"/>
                </a:solidFill>
              </a:rPr>
              <a:t>3.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Relatórios periódicos com fluxo de aprovação
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A87E"/>
                </a:solidFill>
              </a:rPr>
              <a:t>4.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Comprovantes, extratos e prestação de contas digital
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A87E"/>
                </a:solidFill>
              </a:rPr>
              <a:t>5.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Permissões granulares por perfil (RLS)
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00A87E"/>
                </a:solidFill>
              </a:rPr>
              <a:t>6.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Sistema operando em ambiente online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ESCOPO CONTRATADO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itens previstos no contrato assinado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</a:rPr>
              <a:t>Contrato firmado em 20/02/2026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7E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6733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Planejamento e Arquitetura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0025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</a:rPr>
              <a:t>Banco de dados, RLS, migrations, stored procedures, enums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00200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002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7E"/>
                </a:solidFill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9240" y="16733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Autenticação e Perfis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49240" y="20025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</a:rPr>
              <a:t>Login seguro, 3 perfis distintos, sidebar por role, middleware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15768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157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7E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2788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Gestão de Projetos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31181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</a:rPr>
              <a:t>CRUD completo com status, dados, financeiro e participantes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71576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715768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7157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7E"/>
                </a:solidFill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2788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Acompanhamento por Período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49240" y="31181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</a:rPr>
              <a:t>Relatórios com período definido, vínculo ao projeto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31336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831336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31336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7E"/>
                </a:solidFill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39044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Geração de Relatórios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60120" y="42336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</a:rPr>
              <a:t>Editor com 4 seções, salvar rascunho, preenchimento guiado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831336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831336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831336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7E"/>
                </a:solidFill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49240" y="39044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Fluxo de Aprovação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49240" y="42336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</a:rPr>
              <a:t>Enviar → Analisar → Aprovar/Devolver → Reenviar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A3BF"/>
                </a:solidFill>
              </a:rPr>
              <a:t>Entrega prevista: "sistema funcional operando em ambiente online"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O QUE FOI ENTREGUE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sistema em números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</a:rPr>
              <a:t>3 perfis completos, fluxo de ponta a ponta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196596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tabelas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3BF"/>
                </a:solidFill>
              </a:rPr>
              <a:t>no banco de dados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572768"/>
            <a:ext cx="196596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arquivos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487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3BF"/>
                </a:solidFill>
              </a:rPr>
              <a:t>de código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572768"/>
            <a:ext cx="196596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1772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487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3BF"/>
                </a:solidFill>
              </a:rPr>
              <a:t>funcionais completos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1572768"/>
            <a:ext cx="1965960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19.5k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6656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linhas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487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3BF"/>
                </a:solidFill>
              </a:rPr>
              <a:t>de código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44368"/>
            <a:ext cx="269748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44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ORGANIZAÇÃO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4015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Cria e edita projetos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Preenche relatórios mensais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Envia para análise do consultor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Acompanha aprovações e histórico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2968" y="2944368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944368"/>
            <a:ext cx="2697480" cy="384048"/>
          </a:xfrm>
          <a:prstGeom prst="rect">
            <a:avLst/>
          </a:prstGeom>
          <a:solidFill>
            <a:srgbClr val="5D3B8C"/>
          </a:solidFill>
          <a:ln w="12700">
            <a:solidFill>
              <a:srgbClr val="5D3B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2968" y="2944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CONSULTOR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10128" y="34015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Recebe projetos para análise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Revisa relatórios submetidos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Aprova ou devolve com parecer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Histórico de revisões e taxa de aprovação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25896" y="2944368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944368"/>
            <a:ext cx="2697480" cy="384048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2944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INVESTIDOR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63056" y="34015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Visualiza projetos financiados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Acompanha dados financeiros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Acessa comprovantes e extratos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6080"/>
                </a:solidFill>
              </a:rPr>
              <a:t>▸  KPIs de metas e execução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EVOLUÇÕES DO FEEDBACK  ·  O QUE MUDOU COM BASE NAS REVISÕES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feedback ao sistema final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7E"/>
                </a:solidFill>
              </a:rPr>
              <a:t>Cada iteração virou funcionalidade real. O que foi pedido, foi entregue.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1051560"/>
          </a:xfrm>
          <a:prstGeom prst="rect">
            <a:avLst/>
          </a:prstGeom>
          <a:solidFill>
            <a:srgbClr val="1A335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384048" cy="105156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62763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Acesso do Financiador ao Projeto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A6C00"/>
                </a:solidFill>
              </a:rPr>
              <a:t>ANTES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CDE0"/>
                </a:solidFill>
              </a:rPr>
              <a:t>Financiador via link organizacional não via projetos diretos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A87E"/>
                </a:solidFill>
              </a:rPr>
              <a:t>DEPOIS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8"/>
                </a:solidFill>
              </a:rPr>
              <a:t>Acesso por membros diretos do projeto — financiador vê tudo que foi vinculado a ele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114800" cy="1051560"/>
          </a:xfrm>
          <a:prstGeom prst="rect">
            <a:avLst/>
          </a:prstGeom>
          <a:solidFill>
            <a:srgbClr val="1A335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72768"/>
            <a:ext cx="384048" cy="105156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72768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38928" y="162763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Dados Financeiros Consolidados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38928" y="1920240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A6C00"/>
                </a:solidFill>
              </a:rPr>
              <a:t>ANTES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CDE0"/>
                </a:solidFill>
              </a:rPr>
              <a:t>Dados disponíveis mas inacessíveis por regra de permissão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A87E"/>
                </a:solidFill>
              </a:rPr>
              <a:t>DEPOIS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8"/>
                </a:solidFill>
              </a:rPr>
              <a:t>Financiador acessa valores planejados, gastos, comprovantes e extratos em tempo real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1051560"/>
          </a:xfrm>
          <a:prstGeom prst="rect">
            <a:avLst/>
          </a:prstGeom>
          <a:solidFill>
            <a:srgbClr val="1A335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43200"/>
            <a:ext cx="384048" cy="105156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4320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279806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Dashboards por Perfil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3090672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A6C00"/>
                </a:solidFill>
              </a:rPr>
              <a:t>ANTES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CDE0"/>
                </a:solidFill>
              </a:rPr>
              <a:t>Visão genérica para todos os usuários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A87E"/>
                </a:solidFill>
              </a:rPr>
              <a:t>DEPOIS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8"/>
                </a:solidFill>
              </a:rPr>
              <a:t>Painel 100% personalizado por role: ORG, Consultor e Investidor com métricas distintas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114800" cy="1051560"/>
          </a:xfrm>
          <a:prstGeom prst="rect">
            <a:avLst/>
          </a:prstGeom>
          <a:solidFill>
            <a:srgbClr val="1A335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743200"/>
            <a:ext cx="384048" cy="105156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74320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38928" y="279806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Fluxo de Revisão Completo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38928" y="3090672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A6C00"/>
                </a:solidFill>
              </a:rPr>
              <a:t>ANTES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CDE0"/>
                </a:solidFill>
              </a:rPr>
              <a:t>Aprovação não tinha controle de versão ou histórico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A87E"/>
                </a:solidFill>
              </a:rPr>
              <a:t>DEPOIS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8"/>
                </a:solidFill>
              </a:rPr>
              <a:t>Versão atual, data de envio, aprovação, avaliador e nº revisões rastreados por relatório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13632"/>
            <a:ext cx="4114800" cy="1051560"/>
          </a:xfrm>
          <a:prstGeom prst="rect">
            <a:avLst/>
          </a:prstGeom>
          <a:solidFill>
            <a:srgbClr val="1A335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913632"/>
            <a:ext cx="384048" cy="105156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913632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" y="396849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Sidebar Dinâmica por Perfil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1248" y="4261104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A6C00"/>
                </a:solidFill>
              </a:rPr>
              <a:t>ANTES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CDE0"/>
                </a:solidFill>
              </a:rPr>
              <a:t>Menu fixo igual para todos os usuários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A87E"/>
                </a:solidFill>
              </a:rPr>
              <a:t>DEPOIS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8"/>
                </a:solidFill>
              </a:rPr>
              <a:t>Menu adapta automaticamente: organização, investidor e consultor têm navegação própria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913632"/>
            <a:ext cx="4114800" cy="1051560"/>
          </a:xfrm>
          <a:prstGeom prst="rect">
            <a:avLst/>
          </a:prstGeom>
          <a:solidFill>
            <a:srgbClr val="1A335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913632"/>
            <a:ext cx="384048" cy="105156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913632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8928" y="396849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RLS e Segurança por Função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38928" y="4261104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A6C00"/>
                </a:solidFill>
              </a:rPr>
              <a:t>ANTES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8CDE0"/>
                </a:solidFill>
              </a:rPr>
              <a:t>Permissões sem garantia no banco de dados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A87E"/>
                </a:solidFill>
              </a:rPr>
              <a:t>DEPOIS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8"/>
                </a:solidFill>
              </a:rPr>
              <a:t>Row Level Security implementado: cada usuário só lê e escreve o que é seu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FLUXO DO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completo de ponta a ponta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</a:rPr>
              <a:t>Do cadastro do projeto ao aceite do financiador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65176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ORGANIZAÇÃO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329184" cy="329184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Cria o projeto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e preenche os dados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852928"/>
            <a:ext cx="274320" cy="210312"/>
          </a:xfrm>
          <a:prstGeom prst="rect">
            <a:avLst/>
          </a:prstGeom>
          <a:solidFill>
            <a:srgbClr val="D5E0EE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6324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329184" cy="329184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13639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Preenche o relatório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mensal do período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3813048"/>
            <a:ext cx="274320" cy="210312"/>
          </a:xfrm>
          <a:prstGeom prst="rect">
            <a:avLst/>
          </a:prstGeom>
          <a:solidFill>
            <a:srgbClr val="D5E0EE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2336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09651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Recebe feedback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e reenvia corrigido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481328"/>
            <a:ext cx="2651760" cy="457200"/>
          </a:xfrm>
          <a:prstGeom prst="rect">
            <a:avLst/>
          </a:prstGeom>
          <a:solidFill>
            <a:srgbClr val="5D3B8C"/>
          </a:solidFill>
          <a:ln w="12700">
            <a:solidFill>
              <a:srgbClr val="5D3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CONSULTOR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10312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240280"/>
            <a:ext cx="329184" cy="329184"/>
          </a:xfrm>
          <a:prstGeom prst="ellipse">
            <a:avLst/>
          </a:prstGeom>
          <a:solidFill>
            <a:srgbClr val="5D3B8C"/>
          </a:solidFill>
          <a:ln w="12700">
            <a:solidFill>
              <a:srgbClr val="5D3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21762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Analisa o projeto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submetido pela ORG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852928"/>
            <a:ext cx="274320" cy="210312"/>
          </a:xfrm>
          <a:prstGeom prst="rect">
            <a:avLst/>
          </a:prstGeom>
          <a:solidFill>
            <a:srgbClr val="D5E0EE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306324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3200400"/>
            <a:ext cx="329184" cy="329184"/>
          </a:xfrm>
          <a:prstGeom prst="ellipse">
            <a:avLst/>
          </a:prstGeom>
          <a:solidFill>
            <a:srgbClr val="5D3B8C"/>
          </a:solidFill>
          <a:ln w="12700">
            <a:solidFill>
              <a:srgbClr val="5D3B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313639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Revisa o relatório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e emite parecer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4840" y="3813048"/>
            <a:ext cx="274320" cy="210312"/>
          </a:xfrm>
          <a:prstGeom prst="rect">
            <a:avLst/>
          </a:prstGeom>
          <a:solidFill>
            <a:srgbClr val="D5E0EE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402336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7560" y="4160520"/>
            <a:ext cx="329184" cy="329184"/>
          </a:xfrm>
          <a:prstGeom prst="ellipse">
            <a:avLst/>
          </a:prstGeom>
          <a:solidFill>
            <a:srgbClr val="5D3B8C"/>
          </a:solidFill>
          <a:ln w="12700">
            <a:solidFill>
              <a:srgbClr val="5D3B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49040" y="409651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Aprova ou devolve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com justificativa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1481328"/>
            <a:ext cx="2651760" cy="45720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INVESTIDOR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210312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2240280"/>
            <a:ext cx="329184" cy="329184"/>
          </a:xfrm>
          <a:prstGeom prst="ellipse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29400" y="217627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Acompanha projetos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e KPIs em tempo real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15200" y="2852928"/>
            <a:ext cx="274320" cy="210312"/>
          </a:xfrm>
          <a:prstGeom prst="rect">
            <a:avLst/>
          </a:prstGeom>
          <a:solidFill>
            <a:srgbClr val="D5E0EE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306324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200400"/>
            <a:ext cx="329184" cy="329184"/>
          </a:xfrm>
          <a:prstGeom prst="ellipse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29400" y="313639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Acessa financeiro: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planejado vs. realizado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15200" y="3813048"/>
            <a:ext cx="274320" cy="210312"/>
          </a:xfrm>
          <a:prstGeom prst="rect">
            <a:avLst/>
          </a:prstGeom>
          <a:solidFill>
            <a:srgbClr val="D5E0EE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26480" y="402336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17920" y="4160520"/>
            <a:ext cx="329184" cy="329184"/>
          </a:xfrm>
          <a:prstGeom prst="ellipse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29400" y="409651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Aprova a prestação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de contas final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A3BF"/>
                </a:solidFill>
              </a:rPr>
              <a:t>Esse é exatamente o fluxo descrito nos 6 itens do contrato.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ARQUITETURA DO SISTEMA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dados: Projeto → Relatório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</a:rPr>
              <a:t>Estrutura central que sustenta toda a plataforma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926080" cy="3200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A87E"/>
                </a:solidFill>
              </a:rPr>
              <a:t>PROJETO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·  Nome, tipo e status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·  Datas de início e fim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·  Valor total e rubrica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·  Organização executora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3BF"/>
                </a:solidFill>
              </a:rPr>
              <a:t>·  Consultor responsável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3BF"/>
                </a:solidFill>
              </a:rPr>
              <a:t>·  Metas e cronograma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3BF"/>
                </a:solidFill>
              </a:rPr>
              <a:t>·  Participantes do projeto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3BF"/>
                </a:solidFill>
              </a:rPr>
              <a:t>·  Documentos e logos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017520"/>
            <a:ext cx="777240" cy="54864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1:N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8803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87E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1508760"/>
            <a:ext cx="2926080" cy="3200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A87E"/>
                </a:solidFill>
              </a:rPr>
              <a:t>RELATÓRIO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01168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·  Período (início e fim)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·  Status: Rascunho → Aprovado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·  Itens financeiros planejados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·  Comprovantes (NF, recibos)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3BF"/>
                </a:solidFill>
              </a:rPr>
              <a:t>·  Extratos bancários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3BF"/>
                </a:solidFill>
              </a:rPr>
              <a:t>·  Registro fotográfico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3BF"/>
                </a:solidFill>
              </a:rPr>
              <a:t>·  Conteúdo narrativo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3BF"/>
                </a:solidFill>
              </a:rPr>
              <a:t>·  Histórico de versões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1508760"/>
            <a:ext cx="1371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F3D"/>
                </a:solidFill>
              </a:rPr>
              <a:t>PERMISSÕES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F3D"/>
                </a:solidFill>
              </a:rPr>
              <a:t>(RLS)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43800" y="2148840"/>
            <a:ext cx="1188720" cy="6583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1488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escreve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2953512"/>
            <a:ext cx="1188720" cy="658368"/>
          </a:xfrm>
          <a:prstGeom prst="rect">
            <a:avLst/>
          </a:prstGeom>
          <a:solidFill>
            <a:srgbClr val="5D3B8C"/>
          </a:solidFill>
          <a:ln w="12700">
            <a:solidFill>
              <a:srgbClr val="5D3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95351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Consultor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revisa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43800" y="3758184"/>
            <a:ext cx="1188720" cy="658368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37581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Investidor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lê apenas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3BF"/>
                </a:solidFill>
              </a:rPr>
              <a:t>31 tabelas · 7 enums · Migrations versionadas · Stored procedures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A87E"/>
                </a:solidFill>
              </a:rPr>
              <a:t>PROVA VISUAL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920240" cy="36576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804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Investidor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Lista de projetos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vinculados 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financiador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4 projetos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visíveis 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painel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" y="4434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Screenshot real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do sistema em produção</a:t>
            </a:r>
            <a:endParaRPr lang="en-US" sz="900" dirty="0"/>
          </a:p>
        </p:txBody>
      </p:sp>
      <p:pic>
        <p:nvPicPr>
          <p:cNvPr id="11" name="Image 0" descr="/sessions/tender-hopeful-noether/screenshots_new/screen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91440"/>
            <a:ext cx="6629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A87E"/>
                </a:solidFill>
              </a:rPr>
              <a:t>PROVA VISUAL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920240" cy="36576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804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Investidor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Aba Financeiro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Projeto Beta v2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Horta Comunitária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383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R$ 20.000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planejado
</a:t>
            </a:r>
            <a:pPr algn="ctr" indent="0" marL="0">
              <a:buNone/>
            </a:pPr>
            <a:r>
              <a:rPr lang="en-US" sz="1100" b="1" dirty="0">
                <a:solidFill>
                  <a:srgbClr val="EA6C00"/>
                </a:solidFill>
              </a:rPr>
              <a:t>R$ 14.800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gasto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" y="4434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2 comprovantes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anexados</a:t>
            </a:r>
            <a:endParaRPr lang="en-US" sz="900" dirty="0"/>
          </a:p>
        </p:txBody>
      </p:sp>
      <p:pic>
        <p:nvPicPr>
          <p:cNvPr id="11" name="Image 0" descr="/sessions/tender-hopeful-noether/screenshots_new/screen_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91440"/>
            <a:ext cx="6629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A87E"/>
                </a:solidFill>
              </a:rPr>
              <a:t>PROVA VISUAL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920240" cy="36576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804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Investidor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Relatório
Aprovado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Maio/2026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Projeto Beta v2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566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Status: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APROVADO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3BF"/>
                </a:solidFill>
              </a:rPr>
              <a:t>NF 7890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3BF"/>
                </a:solidFill>
              </a:rPr>
              <a:t>R$ 14.800</a:t>
            </a:r>
            <a:endParaRPr lang="en-US" sz="1000" dirty="0"/>
          </a:p>
        </p:txBody>
      </p:sp>
      <p:pic>
        <p:nvPicPr>
          <p:cNvPr id="11" name="Image 0" descr="/sessions/tender-hopeful-noether/screenshots_new/screen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91440"/>
            <a:ext cx="6629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A87E"/>
                </a:solidFill>
              </a:rPr>
              <a:t>PROVA VISUAL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920240" cy="36576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804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5D3B8C"/>
          </a:solidFill>
          <a:ln w="12700">
            <a:solidFill>
              <a:srgbClr val="5D3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Painel de gestão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e revisão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2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projetos
sob gestão
</a:t>
            </a:r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100%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taxa revisão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" y="4498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2 já revisados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0 aguardando</a:t>
            </a:r>
            <a:endParaRPr lang="en-US" sz="900" dirty="0"/>
          </a:p>
        </p:txBody>
      </p:sp>
      <p:pic>
        <p:nvPicPr>
          <p:cNvPr id="11" name="Image 0" descr="/sessions/tender-hopeful-noether/screenshots_new/screen_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91440"/>
            <a:ext cx="6629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A87E"/>
                </a:solidFill>
              </a:rPr>
              <a:t>PROVA VISUAL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920240" cy="36576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804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5D3B8C"/>
          </a:solidFill>
          <a:ln w="12700">
            <a:solidFill>
              <a:srgbClr val="5D3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Fila de revisão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Relatórios para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avaliar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2 relatórios
</a:t>
            </a:r>
            <a:pPr algn="ctr" indent="0" marL="0">
              <a:buNone/>
            </a:pPr>
            <a:r>
              <a:rPr lang="en-US" sz="1100" dirty="0">
                <a:solidFill>
                  <a:srgbClr val="00A87E"/>
                </a:solidFill>
              </a:rPr>
              <a:t>APROVADOS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Alpha v2 e Alpha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" y="4498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Botão Avaliar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disponível</a:t>
            </a:r>
            <a:endParaRPr lang="en-US" sz="900" dirty="0"/>
          </a:p>
        </p:txBody>
      </p:sp>
      <p:pic>
        <p:nvPicPr>
          <p:cNvPr id="11" name="Image 0" descr="/sessions/tender-hopeful-noether/screenshots_new/screen_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91440"/>
            <a:ext cx="6629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A87E"/>
                </a:solidFill>
              </a:rPr>
              <a:t>PROVA VISUAL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920240" cy="36576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804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Organização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Painel completo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da organização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383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3 projetos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ativos
</a:t>
            </a:r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5 relatórios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enviados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" y="4407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4 aprovados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A3BF"/>
                </a:solidFill>
              </a:rPr>
              <a:t>4 rascunhos</a:t>
            </a:r>
            <a:endParaRPr lang="en-US" sz="900" dirty="0"/>
          </a:p>
        </p:txBody>
      </p:sp>
      <p:pic>
        <p:nvPicPr>
          <p:cNvPr id="11" name="Image 0" descr="/sessions/tender-hopeful-noether/screenshots_new/screen_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91440"/>
            <a:ext cx="6629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A87E"/>
                </a:solidFill>
              </a:rPr>
              <a:t>PROVA VISUAL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1920240" cy="36576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804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Organização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Aba Financeiro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Mesmos dados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do Investidor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7E"/>
                </a:solidFill>
              </a:rPr>
              <a:t>Consistência
</a:t>
            </a:r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garantida: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ORG e Investidor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vêem os mesmos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3BF"/>
                </a:solidFill>
              </a:rPr>
              <a:t>valores</a:t>
            </a:r>
            <a:endParaRPr lang="en-US" sz="1100" dirty="0"/>
          </a:p>
        </p:txBody>
      </p:sp>
      <p:pic>
        <p:nvPicPr>
          <p:cNvPr id="10" name="Image 0" descr="/sessions/tender-hopeful-noether/screenshots_new/screen_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91440"/>
            <a:ext cx="6629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CHECKLIST DE ENTREGA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Validação item por item — Fase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</a:rPr>
              <a:t>Com base no contrato assinado em 20/02/2026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457200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636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01  Planejamento e Arquitetura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31 tabelas · 7 enums · RLS · migrations · stored procedures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24328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24328"/>
            <a:ext cx="457200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2432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6883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02  Autenticação e Perfis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0632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Login · 3 perfis · permissões · sidebar por role · middleware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75888"/>
            <a:ext cx="457200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7588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7398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03  Gestão de Projetos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CRUD completo · status · dados · financeiro · participantes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72768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72768"/>
            <a:ext cx="457200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7276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1636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04  Acompanhamento por Período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12080" y="20116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Relatórios com período · listagem · vínculo a projeto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624328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624328"/>
            <a:ext cx="457200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62432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26883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05  Geração de Relatórios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12080" y="30632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Template funcional · editor com 4 seções · salvar rascunho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675888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675888"/>
            <a:ext cx="457200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67588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12080" y="37398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06  Fluxo de Aprovação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12080" y="41148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Enviar → Analisar → Aprovar/Devolver → Reenviar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7E"/>
                </a:solidFill>
              </a:rPr>
              <a:t>✓  6 de 6 itens entregues 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·  MVP funcional operando em ambiente online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BÔNUS · FUNCIONALIDADES JÁ ENTREGUES ALÉM DO ESCOPO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Itens da Fase 2 que já funcionam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</a:rPr>
              <a:t>Entregues sem custo adicional — previews do que vem a seguir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411480" cy="685800"/>
          </a:xfrm>
          <a:prstGeom prst="rect">
            <a:avLst/>
          </a:prstGeom>
          <a:solidFill>
            <a:srgbClr val="007D5F"/>
          </a:solidFill>
          <a:ln w="12700">
            <a:solidFill>
              <a:srgbClr val="007D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18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Dashboards por Perfil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901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ORG, Consultor e Investidor com métricas, KPIs e atalhos distintos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72768"/>
            <a:ext cx="411480" cy="685800"/>
          </a:xfrm>
          <a:prstGeom prst="rect">
            <a:avLst/>
          </a:prstGeom>
          <a:solidFill>
            <a:srgbClr val="007D5F"/>
          </a:solidFill>
          <a:ln w="12700">
            <a:solidFill>
              <a:srgbClr val="007D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7276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1618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Metas e Indicadores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66360" y="1901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Metas do projeto com prazos, status e percentual de conclusão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14016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14016"/>
            <a:ext cx="411480" cy="685800"/>
          </a:xfrm>
          <a:prstGeom prst="rect">
            <a:avLst/>
          </a:prstGeom>
          <a:solidFill>
            <a:srgbClr val="007D5F"/>
          </a:solidFill>
          <a:ln w="12700">
            <a:solidFill>
              <a:srgbClr val="007D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14016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Cronograma de Atividades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2743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Atividades vinculadas a metas com datas e responsáveis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414016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414016"/>
            <a:ext cx="411480" cy="685800"/>
          </a:xfrm>
          <a:prstGeom prst="rect">
            <a:avLst/>
          </a:prstGeom>
          <a:solidFill>
            <a:srgbClr val="007D5F"/>
          </a:solidFill>
          <a:ln w="12700">
            <a:solidFill>
              <a:srgbClr val="007D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414016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6360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Gestão de Participantes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66360" y="2743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Membros do projeto com perfil, papel e controle de acesso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55264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255264"/>
            <a:ext cx="411480" cy="685800"/>
          </a:xfrm>
          <a:prstGeom prst="rect">
            <a:avLst/>
          </a:prstGeom>
          <a:solidFill>
            <a:srgbClr val="007D5F"/>
          </a:solidFill>
          <a:ln w="12700">
            <a:solidFill>
              <a:srgbClr val="007D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55264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300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Upload de Comprovantes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" y="35844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Fotos, recibos e notas fiscais anexados aos relatórios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255264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55264"/>
            <a:ext cx="411480" cy="685800"/>
          </a:xfrm>
          <a:prstGeom prst="rect">
            <a:avLst/>
          </a:prstGeom>
          <a:solidFill>
            <a:srgbClr val="007D5F"/>
          </a:solidFill>
          <a:ln w="12700">
            <a:solidFill>
              <a:srgbClr val="007D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255264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66360" y="3300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Gestão da Organização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66360" y="35844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Dados, logo, questionário e configurações completas da ORG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096512"/>
            <a:ext cx="411480" cy="685800"/>
          </a:xfrm>
          <a:prstGeom prst="rect">
            <a:avLst/>
          </a:prstGeom>
          <a:solidFill>
            <a:srgbClr val="007D5F"/>
          </a:solidFill>
          <a:ln w="12700">
            <a:solidFill>
              <a:srgbClr val="007D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4142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Sistema de Convites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68680" y="44256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Convites por e-mail para membros e colaboradores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096512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4096512"/>
            <a:ext cx="411480" cy="685800"/>
          </a:xfrm>
          <a:prstGeom prst="rect">
            <a:avLst/>
          </a:prstGeom>
          <a:solidFill>
            <a:srgbClr val="007D5F"/>
          </a:solidFill>
          <a:ln w="12700">
            <a:solidFill>
              <a:srgbClr val="007D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09651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66360" y="4142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Auditoria de Ações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166360" y="44256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Log de atividades por usuário para rastreabilidade total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8280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3BF"/>
                </a:solidFill>
              </a:rPr>
              <a:t>Aproximadamente 6.700 linhas de código entregues além do escopo contratado.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7E"/>
                </a:solidFill>
              </a:rPr>
              <a:t>PRÓXIMOS PASSOS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formalizar e avançar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</a:rPr>
              <a:t>Condições para início da Fase 2 — conforme contrato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5943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7E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16916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Aceite Formal da Fase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02082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Validação formal dos 6 itens entregues com base nos critérios do contrato.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Prazo: 5 dias úteis após disponibilização (Cláusula 14).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79192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79192"/>
            <a:ext cx="5943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79192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7E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27706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Quitação Financeira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309981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Segunda parcela da Fase 1 conforme cronograma financeiro contratado.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Condicionado ao aceite formal (Cláusula 5.3).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58184"/>
            <a:ext cx="59436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58184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7E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384962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Início da Fase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417880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Refinamentos de UX, formulários específicos, relatórios avançados 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</a:rPr>
              <a:t>permissões expandidas conforme escopo da Fase 2.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3BF"/>
                </a:solidFill>
              </a:rPr>
              <a:t>Início da Fase 2 condicionado ao aceite formal e quitação financeira da Fase 1 (Cláusula 5.3).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7E"/>
          </a:solidFill>
          <a:ln w="12700">
            <a:solidFill>
              <a:srgbClr val="00A8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4114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00A87E"/>
                </a:solidFill>
              </a:rPr>
              <a:t>FASE 1 · ENTREGUE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Transparência Social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entregue.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00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 evoluir.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2743200" cy="36576"/>
          </a:xfrm>
          <a:prstGeom prst="rect">
            <a:avLst/>
          </a:prstGeom>
          <a:solidFill>
            <a:srgbClr val="8AA3BF"/>
          </a:solidFill>
          <a:ln w="12700">
            <a:solidFill>
              <a:srgbClr val="8AA3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17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Yamaji Studio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3BF"/>
                </a:solidFill>
              </a:rPr>
              <a:t>yamaji.studio@gmail.com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358"/>
                </a:solidFill>
              </a:rPr>
              <a:t>Documento Confidencial  ·  BM Consultoria e Assessoria  ·  Abril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Transparência Social — Entrega Fase 1</dc:title>
  <dc:subject>PptxGenJS Presentation</dc:subject>
  <dc:creator>Yamaji Studio</dc:creator>
  <cp:lastModifiedBy>Yamaji Studio</cp:lastModifiedBy>
  <cp:revision>1</cp:revision>
  <dcterms:created xsi:type="dcterms:W3CDTF">2026-04-05T22:46:42Z</dcterms:created>
  <dcterms:modified xsi:type="dcterms:W3CDTF">2026-04-05T22:46:42Z</dcterms:modified>
</cp:coreProperties>
</file>